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/>
</p:presentation>
</file>

<file path=ppt/presProps.xml><?xml version="1.0" encoding="utf-8"?>
<p:presentationPr xmlns:a="http://schemas.openxmlformats.org/drawingml/2006/main" xmlns:p="http://schemas.openxmlformats.org/presentationml/2006/main" showSpecialPlsOnTitleSld="1" rtl="0" removePersonalInfoOnSave="0" compatMode="1" strictFirstAndLastChars="0">
  <p:extLst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izBarState="restored" vertBarState="restored">
    <p:restoredLeft sz="15620" autoAdjust="0"/>
    <p:restoredTop sz="94660" autoAdjust="0"/>
  </p:normalViewPr>
  <p:slideViewPr/>
  <p:notesTextViewPr/>
  <p:gridSpacing cx="78028800" cy="780288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presProps" Target="presProps.xml"/>
  <Relationship Id="rId12" Type="http://schemas.openxmlformats.org/officeDocument/2006/relationships/viewProps" Target="viewProps.xml"/>
  <Relationship Id="rId13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opBand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"/>
          <p:cNvSpPr/>
          <p:nvPr/>
        </p:nvSpPr>
        <p:spPr>
          <a:xfrm>
            <a:off x="457200" y="304800"/>
            <a:ext cx="1143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4"/>
          <p:cNvSpPr/>
          <p:nvPr/>
        </p:nvSpPr>
        <p:spPr>
          <a:xfrm>
            <a:off x="457200" y="304800"/>
            <a:ext cx="8229600" cy="685800"/>
          </a:xfrm>
          <a:prstGeom prst="rect">
            <a:avLst/>
          </a:prstGeom>
          <a:noFill/>
        </p:spPr>
        <p:txBody>
          <a:bodyPr/>
          <a:lstStyle/>
          <a:p>
            <a:pPr lvl="0" marL="342900" indent="-171450">
              <a:buNone/>
            </a:pPr>
            <a:r>
              <a:rPr lang="en-US" sz="2600" b="1" dirty="0" smtClean="0">
                <a:solidFill>
                  <a:srgbClr val="0F172A"/>
                </a:solidFill>
                <a:latin typeface="Aptos Display"/>
              </a:rPr>
              <a:t>slgraph-extended</a:t>
            </a:r>
            <a:endParaRPr lang="en-US" sz="2600">
              <a:latin typeface="Aptos Display"/>
            </a:endParaRPr>
          </a:p>
        </p:txBody>
      </p:sp>
      <p:sp>
        <p:nvSpPr>
          <p:cNvPr id="5" name="Subtitle 5"/>
          <p:cNvSpPr/>
          <p:nvPr/>
        </p:nvSpPr>
        <p:spPr>
          <a:xfrm>
            <a:off x="457200" y="1028700"/>
            <a:ext cx="8229600" cy="533400"/>
          </a:xfrm>
          <a:prstGeom prst="rect">
            <a:avLst/>
          </a:prstGeom>
          <a:noFill/>
        </p:spPr>
        <p:txBody>
          <a:bodyPr/>
          <a:lstStyle/>
          <a:p>
            <a:pPr lvl="0" marL="342900" indent="-171450">
              <a:buNone/>
            </a:pPr>
            <a:r>
              <a:rPr lang="en-US" sz="1500" b="0" dirty="0" smtClean="0">
                <a:solidFill>
                  <a:srgbClr val="475569"/>
                </a:solidFill>
                <a:latin typeface="Aptos"/>
              </a:rPr>
              <a:t>Memory-mapped graph storage and property-testing tools for directed graphs</a:t>
            </a:r>
            <a:endParaRPr lang="en-US" sz="1500">
              <a:latin typeface="Aptos"/>
            </a:endParaRPr>
          </a:p>
        </p:txBody>
      </p:sp>
      <p:sp>
        <p:nvSpPr>
          <p:cNvPr id="6" name="Content 6"/>
          <p:cNvSpPr txBox="1"/>
          <p:nvPr/>
        </p:nvSpPr>
        <p:spPr>
          <a:xfrm>
            <a:off x="685800" y="1638300"/>
            <a:ext cx="7772400" cy="3505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lIns="228600" tIns="171450" rIns="228600" bIns="171450"/>
          <a:lstStyle/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Custom .slg on-disk graph format with O(1)-style query access via mmap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CLI pipeline for OSM/table preprocessing, loading, and strong-connectivity testing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Includes basic and improved bounded-BFS property testers for directed graphs</a:t>
            </a:r>
            <a:endParaRPr lang="en-US" sz="1800">
              <a:latin typeface="Aptos"/>
            </a:endParaRPr>
          </a:p>
          <a:p>
            <a:pPr>
              <a:buNone/>
            </a:pPr>
            <a:endParaRPr lang="en-US" sz="1200"/>
          </a:p>
        </p:txBody>
      </p:sp>
      <p:sp>
        <p:nvSpPr>
          <p:cNvPr id="7" name="Footer"/>
          <p:cNvSpPr txBox="1"/>
          <p:nvPr/>
        </p:nvSpPr>
        <p:spPr>
          <a:xfrm>
            <a:off x="457200" y="6248400"/>
            <a:ext cx="8229600" cy="304800"/>
          </a:xfrm>
          <a:prstGeom prst="rect">
            <a:avLst/>
          </a:prstGeom>
          <a:noFill/>
        </p:spPr>
        <p:txBody>
          <a:bodyPr/>
          <a:lstStyle/>
          <a:p>
            <a:pPr algn="r">
              <a:buNone/>
            </a:pPr>
            <a:r>
              <a:rPr lang="en-US" sz="1100">
                <a:solidFill>
                  <a:srgbClr val="64748B"/>
                </a:solidFill>
                <a:latin typeface="Aptos"/>
              </a:rPr>
              <a:t>slgraph-extended | Slide 1</a:t>
            </a:r>
            <a:endParaRPr lang="en-US" sz="1100"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opBand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"/>
          <p:cNvSpPr/>
          <p:nvPr/>
        </p:nvSpPr>
        <p:spPr>
          <a:xfrm>
            <a:off x="457200" y="304800"/>
            <a:ext cx="1143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4"/>
          <p:cNvSpPr/>
          <p:nvPr/>
        </p:nvSpPr>
        <p:spPr>
          <a:xfrm>
            <a:off x="457200" y="304800"/>
            <a:ext cx="8229600" cy="685800"/>
          </a:xfrm>
          <a:prstGeom prst="rect">
            <a:avLst/>
          </a:prstGeom>
          <a:noFill/>
        </p:spPr>
        <p:txBody>
          <a:bodyPr/>
          <a:lstStyle/>
          <a:p>
            <a:pPr lvl="0" marL="342900" indent="-171450">
              <a:buNone/>
            </a:pPr>
            <a:r>
              <a:rPr lang="en-US" sz="2600" b="1" dirty="0" smtClean="0">
                <a:solidFill>
                  <a:srgbClr val="0F172A"/>
                </a:solidFill>
                <a:latin typeface="Aptos Display"/>
              </a:rPr>
              <a:t>Project Overview</a:t>
            </a:r>
            <a:endParaRPr lang="en-US" sz="2600">
              <a:latin typeface="Aptos Display"/>
            </a:endParaRPr>
          </a:p>
        </p:txBody>
      </p:sp>
      <p:sp>
        <p:nvSpPr>
          <p:cNvPr id="5" name="Content 5"/>
          <p:cNvSpPr txBox="1"/>
          <p:nvPr/>
        </p:nvSpPr>
        <p:spPr>
          <a:xfrm>
            <a:off x="685800" y="1219200"/>
            <a:ext cx="7772400" cy="420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lIns="228600" tIns="171450" rIns="228600" bIns="171450"/>
          <a:lstStyle/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Provides a low-level graph storage library (slgraph) and several CLI utilities.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Stores graphs in a compact binary .slg format for fast random-access graph queries.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Supports directed graph operations (out/in degree, neighbors, incident edges).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Includes data conversion tools from edge lists and legacy igraph-based formats.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Adds strong-connectivity property testers with bounded exploration.</a:t>
            </a:r>
            <a:endParaRPr lang="en-US" sz="1800">
              <a:latin typeface="Aptos"/>
            </a:endParaRPr>
          </a:p>
          <a:p>
            <a:pPr>
              <a:buNone/>
            </a:pPr>
            <a:endParaRPr lang="en-US" sz="1200"/>
          </a:p>
        </p:txBody>
      </p:sp>
      <p:sp>
        <p:nvSpPr>
          <p:cNvPr id="6" name="Footer"/>
          <p:cNvSpPr txBox="1"/>
          <p:nvPr/>
        </p:nvSpPr>
        <p:spPr>
          <a:xfrm>
            <a:off x="457200" y="6248400"/>
            <a:ext cx="8229600" cy="304800"/>
          </a:xfrm>
          <a:prstGeom prst="rect">
            <a:avLst/>
          </a:prstGeom>
          <a:noFill/>
        </p:spPr>
        <p:txBody>
          <a:bodyPr/>
          <a:lstStyle/>
          <a:p>
            <a:pPr algn="r">
              <a:buNone/>
            </a:pPr>
            <a:r>
              <a:rPr lang="en-US" sz="1100">
                <a:solidFill>
                  <a:srgbClr val="64748B"/>
                </a:solidFill>
                <a:latin typeface="Aptos"/>
              </a:rPr>
              <a:t>slgraph-extended | Slide 2</a:t>
            </a:r>
            <a:endParaRPr lang="en-US" sz="1100"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opBand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"/>
          <p:cNvSpPr/>
          <p:nvPr/>
        </p:nvSpPr>
        <p:spPr>
          <a:xfrm>
            <a:off x="457200" y="304800"/>
            <a:ext cx="1143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4"/>
          <p:cNvSpPr/>
          <p:nvPr/>
        </p:nvSpPr>
        <p:spPr>
          <a:xfrm>
            <a:off x="457200" y="304800"/>
            <a:ext cx="8229600" cy="685800"/>
          </a:xfrm>
          <a:prstGeom prst="rect">
            <a:avLst/>
          </a:prstGeom>
          <a:noFill/>
        </p:spPr>
        <p:txBody>
          <a:bodyPr/>
          <a:lstStyle/>
          <a:p>
            <a:pPr lvl="0" marL="342900" indent="-171450">
              <a:buNone/>
            </a:pPr>
            <a:r>
              <a:rPr lang="en-US" sz="2600" b="1" dirty="0" smtClean="0">
                <a:solidFill>
                  <a:srgbClr val="0F172A"/>
                </a:solidFill>
                <a:latin typeface="Aptos Display"/>
              </a:rPr>
              <a:t>Tech Stack &amp; Dependencies</a:t>
            </a:r>
            <a:endParaRPr lang="en-US" sz="2600">
              <a:latin typeface="Aptos Display"/>
            </a:endParaRPr>
          </a:p>
        </p:txBody>
      </p:sp>
      <p:sp>
        <p:nvSpPr>
          <p:cNvPr id="5" name="Content 5"/>
          <p:cNvSpPr txBox="1"/>
          <p:nvPr/>
        </p:nvSpPr>
        <p:spPr>
          <a:xfrm>
            <a:off x="685800" y="1219200"/>
            <a:ext cx="7772400" cy="420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lIns="228600" tIns="171450" rIns="228600" bIns="171450"/>
          <a:lstStyle/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C (C11): core library and all CLI tools (slgraph, loaders, testers, examples).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POSIX APIs: open/fstat/mmap/ftruncate for memory-mapped file-backed graphs.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libm: math functions (log, ceil) used by tester parameter calculations.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Bash + awk: preprocessing scripts and tabular edge-list normalization.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osmium + jq (optional): OSM extraction into edge-list text in scripts/prepare_edgelist.sh.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igraph + libxml2 (optional): legacy multi-format graph conversion tool (test/convert.c).</a:t>
            </a:r>
            <a:endParaRPr lang="en-US" sz="1800">
              <a:latin typeface="Aptos"/>
            </a:endParaRPr>
          </a:p>
          <a:p>
            <a:pPr>
              <a:buNone/>
            </a:pPr>
            <a:endParaRPr lang="en-US" sz="1200"/>
          </a:p>
        </p:txBody>
      </p:sp>
      <p:sp>
        <p:nvSpPr>
          <p:cNvPr id="6" name="Footer"/>
          <p:cNvSpPr txBox="1"/>
          <p:nvPr/>
        </p:nvSpPr>
        <p:spPr>
          <a:xfrm>
            <a:off x="457200" y="6248400"/>
            <a:ext cx="8229600" cy="304800"/>
          </a:xfrm>
          <a:prstGeom prst="rect">
            <a:avLst/>
          </a:prstGeom>
          <a:noFill/>
        </p:spPr>
        <p:txBody>
          <a:bodyPr/>
          <a:lstStyle/>
          <a:p>
            <a:pPr algn="r">
              <a:buNone/>
            </a:pPr>
            <a:r>
              <a:rPr lang="en-US" sz="1100">
                <a:solidFill>
                  <a:srgbClr val="64748B"/>
                </a:solidFill>
                <a:latin typeface="Aptos"/>
              </a:rPr>
              <a:t>slgraph-extended | Slide 3</a:t>
            </a:r>
            <a:endParaRPr lang="en-US" sz="1100"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opBand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"/>
          <p:cNvSpPr/>
          <p:nvPr/>
        </p:nvSpPr>
        <p:spPr>
          <a:xfrm>
            <a:off x="457200" y="304800"/>
            <a:ext cx="1143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4"/>
          <p:cNvSpPr/>
          <p:nvPr/>
        </p:nvSpPr>
        <p:spPr>
          <a:xfrm>
            <a:off x="457200" y="304800"/>
            <a:ext cx="8229600" cy="685800"/>
          </a:xfrm>
          <a:prstGeom prst="rect">
            <a:avLst/>
          </a:prstGeom>
          <a:noFill/>
        </p:spPr>
        <p:txBody>
          <a:bodyPr/>
          <a:lstStyle/>
          <a:p>
            <a:pPr lvl="0" marL="342900" indent="-171450">
              <a:buNone/>
            </a:pPr>
            <a:r>
              <a:rPr lang="en-US" sz="2600" b="1" dirty="0" smtClean="0">
                <a:solidFill>
                  <a:srgbClr val="0F172A"/>
                </a:solidFill>
                <a:latin typeface="Aptos Display"/>
              </a:rPr>
              <a:t>Project Structure</a:t>
            </a:r>
            <a:endParaRPr lang="en-US" sz="2600">
              <a:latin typeface="Aptos Display"/>
            </a:endParaRPr>
          </a:p>
        </p:txBody>
      </p:sp>
      <p:sp>
        <p:nvSpPr>
          <p:cNvPr id="5" name="Content 5"/>
          <p:cNvSpPr txBox="1"/>
          <p:nvPr/>
        </p:nvSpPr>
        <p:spPr>
          <a:xfrm>
            <a:off x="685800" y="1219200"/>
            <a:ext cx="5257800" cy="420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lIns="228600" tIns="171450" rIns="228600" bIns="171450"/>
          <a:lstStyle/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include/ : public API (slgraph.h) for types, queries, and graph mutations.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src/ : slgraph.c implementation of file format, mmap lifecycle, and graph ops.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test/ : CLI tools (loaders, testers, examples, converter, copy utility) + Makefile.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scripts/ : input preprocessing (OSM/table -&gt; normalized edge-list text).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doc/ : legacy format notes (v1) and TODO backlog.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README.md : current workflow documentation and usage examples.</a:t>
            </a:r>
            <a:endParaRPr lang="en-US" sz="1800">
              <a:latin typeface="Aptos"/>
            </a:endParaRPr>
          </a:p>
          <a:p>
            <a:pPr>
              <a:buNone/>
            </a:pPr>
            <a:endParaRPr lang="en-US" sz="1200"/>
          </a:p>
        </p:txBody>
      </p:sp>
      <p:sp>
        <p:nvSpPr>
          <p:cNvPr id="6" name="Tree 6"/>
          <p:cNvSpPr txBox="1"/>
          <p:nvPr/>
        </p:nvSpPr>
        <p:spPr>
          <a:xfrm>
            <a:off x="6172200" y="1676400"/>
            <a:ext cx="2286000" cy="28194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lIns="152400" tIns="114300" rIns="152400" bIns="114300"/>
          <a:lstStyle/>
          <a:p>
            <a:pPr>
              <a:buNone/>
            </a:pPr>
            <a:r>
              <a:rPr lang="en-US" sz="1400" dirty="0" smtClean="0">
                <a:solidFill>
                  <a:srgbClr val="0F172A"/>
                </a:solidFill>
                <a:latin typeface="Cascadia Mono"/>
              </a:rPr>
              <a:t>include/slgraph.h</a:t>
            </a:r>
            <a:endParaRPr lang="en-US" sz="1400">
              <a:latin typeface="Cascadia Mono"/>
            </a:endParaRPr>
          </a:p>
          <a:p>
            <a:pPr>
              <a:buNone/>
            </a:pPr>
            <a:r>
              <a:rPr lang="en-US" sz="1400" dirty="0" smtClean="0">
                <a:solidFill>
                  <a:srgbClr val="0F172A"/>
                </a:solidFill>
                <a:latin typeface="Cascadia Mono"/>
              </a:rPr>
              <a:t>src/slgraph.c</a:t>
            </a:r>
            <a:endParaRPr lang="en-US" sz="1400">
              <a:latin typeface="Cascadia Mono"/>
            </a:endParaRPr>
          </a:p>
          <a:p>
            <a:pPr>
              <a:buNone/>
            </a:pPr>
            <a:r>
              <a:rPr lang="en-US" sz="1400" dirty="0" smtClean="0">
                <a:solidFill>
                  <a:srgbClr val="0F172A"/>
                </a:solidFill>
                <a:latin typeface="Cascadia Mono"/>
              </a:rPr>
              <a:t>scripts/prepare_edgelist.sh</a:t>
            </a:r>
            <a:endParaRPr lang="en-US" sz="1400">
              <a:latin typeface="Cascadia Mono"/>
            </a:endParaRPr>
          </a:p>
          <a:p>
            <a:pPr>
              <a:buNone/>
            </a:pPr>
            <a:r>
              <a:rPr lang="en-US" sz="1400" dirty="0" smtClean="0">
                <a:solidFill>
                  <a:srgbClr val="0F172A"/>
                </a:solidFill>
                <a:latin typeface="Cascadia Mono"/>
              </a:rPr>
              <a:t>test/load_edgelist.c</a:t>
            </a:r>
            <a:endParaRPr lang="en-US" sz="1400">
              <a:latin typeface="Cascadia Mono"/>
            </a:endParaRPr>
          </a:p>
          <a:p>
            <a:pPr>
              <a:buNone/>
            </a:pPr>
            <a:r>
              <a:rPr lang="en-US" sz="1400" dirty="0" smtClean="0">
                <a:solidFill>
                  <a:srgbClr val="0F172A"/>
                </a:solidFill>
                <a:latin typeface="Cascadia Mono"/>
              </a:rPr>
              <a:t>test/tester_sc_basic.c</a:t>
            </a:r>
            <a:endParaRPr lang="en-US" sz="1400">
              <a:latin typeface="Cascadia Mono"/>
            </a:endParaRPr>
          </a:p>
          <a:p>
            <a:pPr>
              <a:buNone/>
            </a:pPr>
            <a:r>
              <a:rPr lang="en-US" sz="1400" dirty="0" smtClean="0">
                <a:solidFill>
                  <a:srgbClr val="0F172A"/>
                </a:solidFill>
                <a:latin typeface="Cascadia Mono"/>
              </a:rPr>
              <a:t>test/tester_sc_improved.c</a:t>
            </a:r>
            <a:endParaRPr lang="en-US" sz="1400">
              <a:latin typeface="Cascadia Mono"/>
            </a:endParaRPr>
          </a:p>
          <a:p>
            <a:pPr>
              <a:buNone/>
            </a:pPr>
            <a:r>
              <a:rPr lang="en-US" sz="1400" dirty="0" smtClean="0">
                <a:solidFill>
                  <a:srgbClr val="0F172A"/>
                </a:solidFill>
                <a:latin typeface="Cascadia Mono"/>
              </a:rPr>
              <a:t>test/convert.c, test/test.c, test/copy.c</a:t>
            </a:r>
            <a:endParaRPr lang="en-US" sz="1400">
              <a:latin typeface="Cascadia Mono"/>
            </a:endParaRPr>
          </a:p>
        </p:txBody>
      </p:sp>
      <p:sp>
        <p:nvSpPr>
          <p:cNvPr id="7" name="Footer"/>
          <p:cNvSpPr txBox="1"/>
          <p:nvPr/>
        </p:nvSpPr>
        <p:spPr>
          <a:xfrm>
            <a:off x="457200" y="6248400"/>
            <a:ext cx="8229600" cy="304800"/>
          </a:xfrm>
          <a:prstGeom prst="rect">
            <a:avLst/>
          </a:prstGeom>
          <a:noFill/>
        </p:spPr>
        <p:txBody>
          <a:bodyPr/>
          <a:lstStyle/>
          <a:p>
            <a:pPr algn="r">
              <a:buNone/>
            </a:pPr>
            <a:r>
              <a:rPr lang="en-US" sz="1100">
                <a:solidFill>
                  <a:srgbClr val="64748B"/>
                </a:solidFill>
                <a:latin typeface="Aptos"/>
              </a:rPr>
              <a:t>slgraph-extended | Slide 4</a:t>
            </a:r>
            <a:endParaRPr lang="en-US" sz="1100"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opBand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"/>
          <p:cNvSpPr/>
          <p:nvPr/>
        </p:nvSpPr>
        <p:spPr>
          <a:xfrm>
            <a:off x="457200" y="304800"/>
            <a:ext cx="1143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4"/>
          <p:cNvSpPr/>
          <p:nvPr/>
        </p:nvSpPr>
        <p:spPr>
          <a:xfrm>
            <a:off x="457200" y="304800"/>
            <a:ext cx="8229600" cy="685800"/>
          </a:xfrm>
          <a:prstGeom prst="rect">
            <a:avLst/>
          </a:prstGeom>
          <a:noFill/>
        </p:spPr>
        <p:txBody>
          <a:bodyPr/>
          <a:lstStyle/>
          <a:p>
            <a:pPr lvl="0" marL="342900" indent="-171450">
              <a:buNone/>
            </a:pPr>
            <a:r>
              <a:rPr lang="en-US" sz="2600" b="1" dirty="0" smtClean="0">
                <a:solidFill>
                  <a:srgbClr val="0F172A"/>
                </a:solidFill>
                <a:latin typeface="Aptos Display"/>
              </a:rPr>
              <a:t>Core Architecture</a:t>
            </a:r>
            <a:endParaRPr lang="en-US" sz="2600">
              <a:latin typeface="Aptos Display"/>
            </a:endParaRPr>
          </a:p>
        </p:txBody>
      </p:sp>
      <p:sp>
        <p:nvSpPr>
          <p:cNvPr id="5" name="Content 5"/>
          <p:cNvSpPr txBox="1"/>
          <p:nvPr/>
        </p:nvSpPr>
        <p:spPr>
          <a:xfrm>
            <a:off x="685800" y="1219200"/>
            <a:ext cx="7772400" cy="420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lIns="228600" tIns="171450" rIns="228600" bIns="171450"/>
          <a:lstStyle/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Library + CLI pipeline architecture (not MVC/REST): file-based stages connected by artifacts.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Core backend layer: slgraph API over memory-mapped .slg files.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Preprocessing layer: raw data -&gt; edge-list text (script) -&gt; .slg loader/converter.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Analysis layer: property-testing executables query the graph through slgraph_* APIs.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Loose coupling via file formats (.osm/.csv -&gt; edge list -&gt; .slg).</a:t>
            </a:r>
            <a:endParaRPr lang="en-US" sz="1800">
              <a:latin typeface="Aptos"/>
            </a:endParaRPr>
          </a:p>
          <a:p>
            <a:pPr>
              <a:buNone/>
            </a:pPr>
            <a:endParaRPr lang="en-US" sz="1200"/>
          </a:p>
        </p:txBody>
      </p:sp>
      <p:sp>
        <p:nvSpPr>
          <p:cNvPr id="6" name="Footer"/>
          <p:cNvSpPr txBox="1"/>
          <p:nvPr/>
        </p:nvSpPr>
        <p:spPr>
          <a:xfrm>
            <a:off x="457200" y="6248400"/>
            <a:ext cx="8229600" cy="304800"/>
          </a:xfrm>
          <a:prstGeom prst="rect">
            <a:avLst/>
          </a:prstGeom>
          <a:noFill/>
        </p:spPr>
        <p:txBody>
          <a:bodyPr/>
          <a:lstStyle/>
          <a:p>
            <a:pPr algn="r">
              <a:buNone/>
            </a:pPr>
            <a:r>
              <a:rPr lang="en-US" sz="1100">
                <a:solidFill>
                  <a:srgbClr val="64748B"/>
                </a:solidFill>
                <a:latin typeface="Aptos"/>
              </a:rPr>
              <a:t>slgraph-extended | Slide 5</a:t>
            </a:r>
            <a:endParaRPr lang="en-US" sz="1100"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opBand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"/>
          <p:cNvSpPr/>
          <p:nvPr/>
        </p:nvSpPr>
        <p:spPr>
          <a:xfrm>
            <a:off x="457200" y="304800"/>
            <a:ext cx="1143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4"/>
          <p:cNvSpPr/>
          <p:nvPr/>
        </p:nvSpPr>
        <p:spPr>
          <a:xfrm>
            <a:off x="457200" y="304800"/>
            <a:ext cx="8229600" cy="685800"/>
          </a:xfrm>
          <a:prstGeom prst="rect">
            <a:avLst/>
          </a:prstGeom>
          <a:noFill/>
        </p:spPr>
        <p:txBody>
          <a:bodyPr/>
          <a:lstStyle/>
          <a:p>
            <a:pPr lvl="0" marL="342900" indent="-171450">
              <a:buNone/>
            </a:pPr>
            <a:r>
              <a:rPr lang="en-US" sz="2600" b="1" dirty="0" smtClean="0">
                <a:solidFill>
                  <a:srgbClr val="0F172A"/>
                </a:solidFill>
                <a:latin typeface="Aptos Display"/>
              </a:rPr>
              <a:t>Key Features &amp; Functionality</a:t>
            </a:r>
            <a:endParaRPr lang="en-US" sz="2600">
              <a:latin typeface="Aptos Display"/>
            </a:endParaRPr>
          </a:p>
        </p:txBody>
      </p:sp>
      <p:sp>
        <p:nvSpPr>
          <p:cNvPr id="5" name="Content 5"/>
          <p:cNvSpPr txBox="1"/>
          <p:nvPr/>
        </p:nvSpPr>
        <p:spPr>
          <a:xfrm>
            <a:off x="685800" y="1219200"/>
            <a:ext cx="7772400" cy="420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lIns="228600" tIns="171450" rIns="228600" bIns="171450"/>
          <a:lstStyle/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Directed graph support with separate out- and in-incidence lists per node.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Memory-mapped graph access for constant-time metadata/neighbor query operations.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Streaming edge-list loader for large graphs with sparse-ID remapping to dense indices.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Legacy igraph-based converter for multiple input formats (GraphML, GML, Pajek, etc.).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Strong-connectivity basic tester (fixed cutoff) and improved tester (doubling cutoff).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Utility programs for graph copy/compaction and API demonstration.</a:t>
            </a:r>
            <a:endParaRPr lang="en-US" sz="1800">
              <a:latin typeface="Aptos"/>
            </a:endParaRPr>
          </a:p>
          <a:p>
            <a:pPr>
              <a:buNone/>
            </a:pPr>
            <a:endParaRPr lang="en-US" sz="1200"/>
          </a:p>
        </p:txBody>
      </p:sp>
      <p:sp>
        <p:nvSpPr>
          <p:cNvPr id="6" name="Footer"/>
          <p:cNvSpPr txBox="1"/>
          <p:nvPr/>
        </p:nvSpPr>
        <p:spPr>
          <a:xfrm>
            <a:off x="457200" y="6248400"/>
            <a:ext cx="8229600" cy="304800"/>
          </a:xfrm>
          <a:prstGeom prst="rect">
            <a:avLst/>
          </a:prstGeom>
          <a:noFill/>
        </p:spPr>
        <p:txBody>
          <a:bodyPr/>
          <a:lstStyle/>
          <a:p>
            <a:pPr algn="r">
              <a:buNone/>
            </a:pPr>
            <a:r>
              <a:rPr lang="en-US" sz="1100">
                <a:solidFill>
                  <a:srgbClr val="64748B"/>
                </a:solidFill>
                <a:latin typeface="Aptos"/>
              </a:rPr>
              <a:t>slgraph-extended | Slide 6</a:t>
            </a:r>
            <a:endParaRPr lang="en-US" sz="1100"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opBand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"/>
          <p:cNvSpPr/>
          <p:nvPr/>
        </p:nvSpPr>
        <p:spPr>
          <a:xfrm>
            <a:off x="457200" y="304800"/>
            <a:ext cx="1143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4"/>
          <p:cNvSpPr/>
          <p:nvPr/>
        </p:nvSpPr>
        <p:spPr>
          <a:xfrm>
            <a:off x="457200" y="304800"/>
            <a:ext cx="8229600" cy="685800"/>
          </a:xfrm>
          <a:prstGeom prst="rect">
            <a:avLst/>
          </a:prstGeom>
          <a:noFill/>
        </p:spPr>
        <p:txBody>
          <a:bodyPr/>
          <a:lstStyle/>
          <a:p>
            <a:pPr lvl="0" marL="342900" indent="-171450">
              <a:buNone/>
            </a:pPr>
            <a:r>
              <a:rPr lang="en-US" sz="2600" b="1" dirty="0" smtClean="0">
                <a:solidFill>
                  <a:srgbClr val="0F172A"/>
                </a:solidFill>
                <a:latin typeface="Aptos Display"/>
              </a:rPr>
              <a:t>Main Methods &amp; Logic</a:t>
            </a:r>
            <a:endParaRPr lang="en-US" sz="2600">
              <a:latin typeface="Aptos Display"/>
            </a:endParaRPr>
          </a:p>
        </p:txBody>
      </p:sp>
      <p:sp>
        <p:nvSpPr>
          <p:cNvPr id="5" name="Content 5"/>
          <p:cNvSpPr txBox="1"/>
          <p:nvPr/>
        </p:nvSpPr>
        <p:spPr>
          <a:xfrm>
            <a:off x="685800" y="1219200"/>
            <a:ext cx="7772400" cy="420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lIns="228600" tIns="171450" rIns="228600" bIns="171450"/>
          <a:lstStyle/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slgraph_open(g, path, readonly): opens/validates/initializes .slg and mmap()s the file.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slgraph_add_node / slgraph_add_directed_edge / slgraph_add_edge: build graph storage.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slgraph_out_degree/in_degree + out_neighbour/in_neighbour: O(1)-style directed queries.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load_edgelist: read_edge_ids -&gt; unique_sorted_ids -&gt; map_id -&gt; add nodes/edges (2-pass).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tester bfs_cutoff_out / bfs_cutoff_in: bounded BFS using queue-only duplicate checks.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tester mains: sample vertices and ACCEPT/REJECT based on cutoff reachability evidence.</a:t>
            </a:r>
            <a:endParaRPr lang="en-US" sz="1800">
              <a:latin typeface="Aptos"/>
            </a:endParaRPr>
          </a:p>
          <a:p>
            <a:pPr>
              <a:buNone/>
            </a:pPr>
            <a:endParaRPr lang="en-US" sz="1200"/>
          </a:p>
        </p:txBody>
      </p:sp>
      <p:sp>
        <p:nvSpPr>
          <p:cNvPr id="6" name="Footer"/>
          <p:cNvSpPr txBox="1"/>
          <p:nvPr/>
        </p:nvSpPr>
        <p:spPr>
          <a:xfrm>
            <a:off x="457200" y="6248400"/>
            <a:ext cx="8229600" cy="304800"/>
          </a:xfrm>
          <a:prstGeom prst="rect">
            <a:avLst/>
          </a:prstGeom>
          <a:noFill/>
        </p:spPr>
        <p:txBody>
          <a:bodyPr/>
          <a:lstStyle/>
          <a:p>
            <a:pPr algn="r">
              <a:buNone/>
            </a:pPr>
            <a:r>
              <a:rPr lang="en-US" sz="1100">
                <a:solidFill>
                  <a:srgbClr val="64748B"/>
                </a:solidFill>
                <a:latin typeface="Aptos"/>
              </a:rPr>
              <a:t>slgraph-extended | Slide 7</a:t>
            </a:r>
            <a:endParaRPr lang="en-US" sz="1100"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opBand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"/>
          <p:cNvSpPr/>
          <p:nvPr/>
        </p:nvSpPr>
        <p:spPr>
          <a:xfrm>
            <a:off x="457200" y="304800"/>
            <a:ext cx="1143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4"/>
          <p:cNvSpPr/>
          <p:nvPr/>
        </p:nvSpPr>
        <p:spPr>
          <a:xfrm>
            <a:off x="457200" y="304800"/>
            <a:ext cx="8229600" cy="685800"/>
          </a:xfrm>
          <a:prstGeom prst="rect">
            <a:avLst/>
          </a:prstGeom>
          <a:noFill/>
        </p:spPr>
        <p:txBody>
          <a:bodyPr/>
          <a:lstStyle/>
          <a:p>
            <a:pPr lvl="0" marL="342900" indent="-171450">
              <a:buNone/>
            </a:pPr>
            <a:r>
              <a:rPr lang="en-US" sz="2600" b="1" dirty="0" smtClean="0">
                <a:solidFill>
                  <a:srgbClr val="0F172A"/>
                </a:solidFill>
                <a:latin typeface="Aptos Display"/>
              </a:rPr>
              <a:t>Data Flow</a:t>
            </a:r>
            <a:endParaRPr lang="en-US" sz="2600">
              <a:latin typeface="Aptos Display"/>
            </a:endParaRPr>
          </a:p>
        </p:txBody>
      </p:sp>
      <p:sp>
        <p:nvSpPr>
          <p:cNvPr id="5" name="Content 5"/>
          <p:cNvSpPr txBox="1"/>
          <p:nvPr/>
        </p:nvSpPr>
        <p:spPr>
          <a:xfrm>
            <a:off x="685800" y="1219200"/>
            <a:ext cx="7772400" cy="420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lIns="228600" tIns="171450" rIns="228600" bIns="171450"/>
          <a:lstStyle/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1) Input source: OSM (.osm/.pbf) or generic table/CSV/TSV.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2) scripts/prepare_edgelist.sh normalizes data into "u v" edge-list text.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3) test/slgraph_load_edgelist remaps IDs and writes compact .slg graph file.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4) tester_sc_basic / tester_sc_improved call slgraph_open on the .slg file.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5) Testers sample vertices and run bounded forward/reverse BFS via slgraph queries.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6) Output is ACCEPT/REJECT with diagnostic cutoff/sample details.</a:t>
            </a:r>
            <a:endParaRPr lang="en-US" sz="1800">
              <a:latin typeface="Aptos"/>
            </a:endParaRPr>
          </a:p>
          <a:p>
            <a:pPr>
              <a:buNone/>
            </a:pPr>
            <a:endParaRPr lang="en-US" sz="1200"/>
          </a:p>
        </p:txBody>
      </p:sp>
      <p:sp>
        <p:nvSpPr>
          <p:cNvPr id="6" name="Footer"/>
          <p:cNvSpPr txBox="1"/>
          <p:nvPr/>
        </p:nvSpPr>
        <p:spPr>
          <a:xfrm>
            <a:off x="457200" y="6248400"/>
            <a:ext cx="8229600" cy="304800"/>
          </a:xfrm>
          <a:prstGeom prst="rect">
            <a:avLst/>
          </a:prstGeom>
          <a:noFill/>
        </p:spPr>
        <p:txBody>
          <a:bodyPr/>
          <a:lstStyle/>
          <a:p>
            <a:pPr algn="r">
              <a:buNone/>
            </a:pPr>
            <a:r>
              <a:rPr lang="en-US" sz="1100">
                <a:solidFill>
                  <a:srgbClr val="64748B"/>
                </a:solidFill>
                <a:latin typeface="Aptos"/>
              </a:rPr>
              <a:t>slgraph-extended | Slide 8</a:t>
            </a:r>
            <a:endParaRPr lang="en-US" sz="1100"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opBand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"/>
          <p:cNvSpPr/>
          <p:nvPr/>
        </p:nvSpPr>
        <p:spPr>
          <a:xfrm>
            <a:off x="457200" y="304800"/>
            <a:ext cx="1143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4"/>
          <p:cNvSpPr/>
          <p:nvPr/>
        </p:nvSpPr>
        <p:spPr>
          <a:xfrm>
            <a:off x="457200" y="304800"/>
            <a:ext cx="8229600" cy="685800"/>
          </a:xfrm>
          <a:prstGeom prst="rect">
            <a:avLst/>
          </a:prstGeom>
          <a:noFill/>
        </p:spPr>
        <p:txBody>
          <a:bodyPr/>
          <a:lstStyle/>
          <a:p>
            <a:pPr lvl="0" marL="342900" indent="-171450">
              <a:buNone/>
            </a:pPr>
            <a:r>
              <a:rPr lang="en-US" sz="2600" b="1" dirty="0" smtClean="0">
                <a:solidFill>
                  <a:srgbClr val="0F172A"/>
                </a:solidFill>
                <a:latin typeface="Aptos Display"/>
              </a:rPr>
              <a:t>Challenges &amp; Design Decisions</a:t>
            </a:r>
            <a:endParaRPr lang="en-US" sz="2600">
              <a:latin typeface="Aptos Display"/>
            </a:endParaRPr>
          </a:p>
        </p:txBody>
      </p:sp>
      <p:sp>
        <p:nvSpPr>
          <p:cNvPr id="5" name="Content 5"/>
          <p:cNvSpPr txBox="1"/>
          <p:nvPr/>
        </p:nvSpPr>
        <p:spPr>
          <a:xfrm>
            <a:off x="685800" y="1219200"/>
            <a:ext cx="7772400" cy="420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lIns="228600" tIns="171450" rIns="228600" bIns="171450"/>
          <a:lstStyle/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Tradeoff: preprocessing is size-dependent, but tester loop is designed to be size-independent wrt n.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Recent change: removed mark[] arrays from testers to satisfy queue-only reviewer constraint.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Recent change: disabled automatic degree-bound computation (d&lt;=1 rejected) to avoid O(n) scan paths.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Directed support extends original format with separate out/in offsets in node entries.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mmap-based storage simplifies random access but requires careful resize/remap bookkeeping.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Loader chooses 2-pass sparse-ID remapping for compatibility with OSM-scale numeric IDs.</a:t>
            </a:r>
            <a:endParaRPr lang="en-US" sz="1800">
              <a:latin typeface="Aptos"/>
            </a:endParaRPr>
          </a:p>
          <a:p>
            <a:pPr>
              <a:buNone/>
            </a:pPr>
            <a:endParaRPr lang="en-US" sz="1200"/>
          </a:p>
        </p:txBody>
      </p:sp>
      <p:sp>
        <p:nvSpPr>
          <p:cNvPr id="6" name="Footer"/>
          <p:cNvSpPr txBox="1"/>
          <p:nvPr/>
        </p:nvSpPr>
        <p:spPr>
          <a:xfrm>
            <a:off x="457200" y="6248400"/>
            <a:ext cx="8229600" cy="304800"/>
          </a:xfrm>
          <a:prstGeom prst="rect">
            <a:avLst/>
          </a:prstGeom>
          <a:noFill/>
        </p:spPr>
        <p:txBody>
          <a:bodyPr/>
          <a:lstStyle/>
          <a:p>
            <a:pPr algn="r">
              <a:buNone/>
            </a:pPr>
            <a:r>
              <a:rPr lang="en-US" sz="1100">
                <a:solidFill>
                  <a:srgbClr val="64748B"/>
                </a:solidFill>
                <a:latin typeface="Aptos"/>
              </a:rPr>
              <a:t>slgraph-extended | Slide 9</a:t>
            </a:r>
            <a:endParaRPr lang="en-US" sz="1100"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opBand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"/>
          <p:cNvSpPr/>
          <p:nvPr/>
        </p:nvSpPr>
        <p:spPr>
          <a:xfrm>
            <a:off x="457200" y="304800"/>
            <a:ext cx="1143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4"/>
          <p:cNvSpPr/>
          <p:nvPr/>
        </p:nvSpPr>
        <p:spPr>
          <a:xfrm>
            <a:off x="457200" y="304800"/>
            <a:ext cx="8229600" cy="685800"/>
          </a:xfrm>
          <a:prstGeom prst="rect">
            <a:avLst/>
          </a:prstGeom>
          <a:noFill/>
        </p:spPr>
        <p:txBody>
          <a:bodyPr/>
          <a:lstStyle/>
          <a:p>
            <a:pPr lvl="0" marL="342900" indent="-171450">
              <a:buNone/>
            </a:pPr>
            <a:r>
              <a:rPr lang="en-US" sz="2600" b="1" dirty="0" smtClean="0">
                <a:solidFill>
                  <a:srgbClr val="0F172A"/>
                </a:solidFill>
                <a:latin typeface="Aptos Display"/>
              </a:rPr>
              <a:t>Summary &amp; Conclusion</a:t>
            </a:r>
            <a:endParaRPr lang="en-US" sz="2600">
              <a:latin typeface="Aptos Display"/>
            </a:endParaRPr>
          </a:p>
        </p:txBody>
      </p:sp>
      <p:sp>
        <p:nvSpPr>
          <p:cNvPr id="5" name="Content 5"/>
          <p:cNvSpPr txBox="1"/>
          <p:nvPr/>
        </p:nvSpPr>
        <p:spPr>
          <a:xfrm>
            <a:off x="685800" y="1219200"/>
            <a:ext cx="7772400" cy="420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lIns="228600" tIns="171450" rIns="228600" bIns="171450"/>
          <a:lstStyle/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slgraph-extended combines a low-level mmap graph format with practical CLI tooling.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The pipeline cleanly separates preprocessing (size-dependent) from testing/querying stages.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Property testers operate on .slg with bounded BFS and explicit degree bound d &gt; 1.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The codebase is modular: core library, loaders/converters, testers, docs, and scripts.</a:t>
            </a:r>
            <a:endParaRPr lang="en-US" sz="1800">
              <a:latin typeface="Aptos"/>
            </a:endParaRPr>
          </a:p>
          <a:p>
            <a:pPr lvl="0" marL="342900" indent="-171450">
              <a:buChar char="•"/>
            </a:pPr>
            <a:r>
              <a:rPr lang="en-US" sz="1800" b="0" dirty="0" smtClean="0">
                <a:solidFill>
                  <a:srgbClr val="1F2937"/>
                </a:solidFill>
                <a:latin typeface="Aptos"/>
              </a:rPr>
              <a:t>Good next steps: tighten docs/spec alignment, add tests, and polish error handling in core code.</a:t>
            </a:r>
            <a:endParaRPr lang="en-US" sz="1800">
              <a:latin typeface="Aptos"/>
            </a:endParaRPr>
          </a:p>
          <a:p>
            <a:pPr>
              <a:buNone/>
            </a:pPr>
            <a:endParaRPr lang="en-US" sz="1200"/>
          </a:p>
        </p:txBody>
      </p:sp>
      <p:sp>
        <p:nvSpPr>
          <p:cNvPr id="6" name="Footer"/>
          <p:cNvSpPr txBox="1"/>
          <p:nvPr/>
        </p:nvSpPr>
        <p:spPr>
          <a:xfrm>
            <a:off x="457200" y="6248400"/>
            <a:ext cx="8229600" cy="304800"/>
          </a:xfrm>
          <a:prstGeom prst="rect">
            <a:avLst/>
          </a:prstGeom>
          <a:noFill/>
        </p:spPr>
        <p:txBody>
          <a:bodyPr/>
          <a:lstStyle/>
          <a:p>
            <a:pPr algn="r">
              <a:buNone/>
            </a:pPr>
            <a:r>
              <a:rPr lang="en-US" sz="1100">
                <a:solidFill>
                  <a:srgbClr val="64748B"/>
                </a:solidFill>
                <a:latin typeface="Aptos"/>
              </a:rPr>
              <a:t>slgraph-extended | Slide 10</a:t>
            </a:r>
            <a:endParaRPr lang="en-US" sz="1100"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">
      <a:dk1>
        <a:srgbClr val="0F172A"/>
      </a:dk1>
      <a:lt1>
        <a:srgbClr val="FFFFFF"/>
      </a:lt1>
      <a:dk2>
        <a:srgbClr val="1F2937"/>
      </a:dk2>
      <a:lt2>
        <a:srgbClr val="F8FAFC"/>
      </a:lt2>
      <a:accent1>
        <a:srgbClr val="0EA5E9"/>
      </a:accent1>
      <a:accent2>
        <a:srgbClr val="14B8A6"/>
      </a:accent2>
      <a:accent3>
        <a:srgbClr val="F59E0B"/>
      </a:accent3>
      <a:accent4>
        <a:srgbClr val="EF4444"/>
      </a:accent4>
      <a:accent5>
        <a:srgbClr val="8B5CF6"/>
      </a:accent5>
      <a:accent6>
        <a:srgbClr val="84CC16"/>
      </a:accent6>
      <a:hlink>
        <a:srgbClr val="2563EB"/>
      </a:hlink>
      <a:folHlink>
        <a:srgbClr val="7C3AED"/>
      </a:folHlink>
    </a:clrScheme>
    <a:fontScheme name="Custom 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Cust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100000">
              <a:schemeClr val="phClr">
                <a:shade val="93000"/>
                <a:satMod val="13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</a:schemeClr>
            </a:gs>
            <a:gs pos="50000">
              <a:schemeClr val="phClr">
                <a:tint val="98000"/>
                <a:satMod val="130000"/>
              </a:schemeClr>
            </a:gs>
            <a:gs pos="100000">
              <a:schemeClr val="phClr">
                <a:tint val="90000"/>
                <a:satMod val="12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10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10</vt:i4>
      </vt:variant>
    </vt:vector>
  </HeadingPairs>
  <TitlesOfParts>
    <vt:vector size="10" baseType="lpstr">
      <vt:lpstr>slgraph-extended</vt:lpstr>
      <vt:lpstr>Project Overview</vt:lpstr>
      <vt:lpstr>Tech Stack &amp; Dependencies</vt:lpstr>
      <vt:lpstr>Project Structure</vt:lpstr>
      <vt:lpstr>Core Architecture</vt:lpstr>
      <vt:lpstr>Key Features &amp; Functionality</vt:lpstr>
      <vt:lpstr>Main Methods &amp; Logic</vt:lpstr>
      <vt:lpstr>Data Flow</vt:lpstr>
      <vt:lpstr>Challenges &amp; Design Decisions</vt:lpstr>
      <vt:lpstr>Summary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slgraph-extended Project Presentation</dc:title>
  <dc:creator>OpenAI Codex</dc:creator>
  <cp:lastModifiedBy>OpenAI Codex</cp:lastModifiedBy>
  <dcterms:created xsi:type="dcterms:W3CDTF">2026-02-26T18:47:30Z</dcterms:created>
  <dcterms:modified xsi:type="dcterms:W3CDTF">2026-02-26T18:47:30Z</dcterms:modified>
</cp:coreProperties>
</file>